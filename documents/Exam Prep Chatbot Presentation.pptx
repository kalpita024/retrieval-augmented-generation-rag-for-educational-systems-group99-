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HK Modular" charset="1" panose="00000800000000000000"/>
      <p:regular r:id="rId14"/>
    </p:embeddedFont>
    <p:embeddedFont>
      <p:font typeface="Canva Sans" charset="1" panose="020B0503030501040103"/>
      <p:regular r:id="rId15"/>
    </p:embeddedFont>
    <p:embeddedFont>
      <p:font typeface="Sansation Bold" charset="1" panose="02000000000000000000"/>
      <p:regular r:id="rId16"/>
    </p:embeddedFont>
    <p:embeddedFont>
      <p:font typeface="Sansation" charset="1" panose="02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872589"/>
            <a:ext cx="7315200" cy="771421"/>
          </a:xfrm>
          <a:custGeom>
            <a:avLst/>
            <a:gdLst/>
            <a:ahLst/>
            <a:cxnLst/>
            <a:rect r="r" b="b" t="t" l="l"/>
            <a:pathLst>
              <a:path h="771421" w="7315200">
                <a:moveTo>
                  <a:pt x="0" y="0"/>
                </a:moveTo>
                <a:lnTo>
                  <a:pt x="7315200" y="0"/>
                </a:lnTo>
                <a:lnTo>
                  <a:pt x="7315200" y="771422"/>
                </a:lnTo>
                <a:lnTo>
                  <a:pt x="0" y="771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944100" y="642989"/>
            <a:ext cx="7315200" cy="771421"/>
          </a:xfrm>
          <a:custGeom>
            <a:avLst/>
            <a:gdLst/>
            <a:ahLst/>
            <a:cxnLst/>
            <a:rect r="r" b="b" t="t" l="l"/>
            <a:pathLst>
              <a:path h="771421" w="7315200">
                <a:moveTo>
                  <a:pt x="7315200" y="0"/>
                </a:moveTo>
                <a:lnTo>
                  <a:pt x="0" y="0"/>
                </a:lnTo>
                <a:lnTo>
                  <a:pt x="0" y="771422"/>
                </a:lnTo>
                <a:lnTo>
                  <a:pt x="7315200" y="771422"/>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01900" y="801052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028700" y="-1814512"/>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1623060" y="5406494"/>
            <a:ext cx="5303520" cy="771421"/>
          </a:xfrm>
          <a:custGeom>
            <a:avLst/>
            <a:gdLst/>
            <a:ahLst/>
            <a:cxnLst/>
            <a:rect r="r" b="b" t="t" l="l"/>
            <a:pathLst>
              <a:path h="771421" w="5303520">
                <a:moveTo>
                  <a:pt x="0" y="0"/>
                </a:moveTo>
                <a:lnTo>
                  <a:pt x="5303520" y="0"/>
                </a:lnTo>
                <a:lnTo>
                  <a:pt x="5303520" y="771421"/>
                </a:lnTo>
                <a:lnTo>
                  <a:pt x="0" y="771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5400000">
            <a:off x="14607540" y="4109085"/>
            <a:ext cx="5303520" cy="771421"/>
          </a:xfrm>
          <a:custGeom>
            <a:avLst/>
            <a:gdLst/>
            <a:ahLst/>
            <a:cxnLst/>
            <a:rect r="r" b="b" t="t" l="l"/>
            <a:pathLst>
              <a:path h="771421" w="5303520">
                <a:moveTo>
                  <a:pt x="0" y="771421"/>
                </a:moveTo>
                <a:lnTo>
                  <a:pt x="5303520" y="771421"/>
                </a:lnTo>
                <a:lnTo>
                  <a:pt x="5303520" y="0"/>
                </a:lnTo>
                <a:lnTo>
                  <a:pt x="0" y="0"/>
                </a:lnTo>
                <a:lnTo>
                  <a:pt x="0" y="77142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705479" y="2506053"/>
            <a:ext cx="14877041" cy="6572302"/>
          </a:xfrm>
          <a:prstGeom prst="rect">
            <a:avLst/>
          </a:prstGeom>
        </p:spPr>
        <p:txBody>
          <a:bodyPr anchor="t" rtlCol="false" tIns="0" lIns="0" bIns="0" rIns="0">
            <a:spAutoFit/>
          </a:bodyPr>
          <a:lstStyle/>
          <a:p>
            <a:pPr algn="ctr">
              <a:lnSpc>
                <a:spcPts val="12086"/>
              </a:lnSpc>
            </a:pPr>
            <a:r>
              <a:rPr lang="en-US" sz="10071" spc="302">
                <a:solidFill>
                  <a:srgbClr val="D9D9D9"/>
                </a:solidFill>
                <a:latin typeface="HK Modular"/>
                <a:ea typeface="HK Modular"/>
                <a:cs typeface="HK Modular"/>
                <a:sym typeface="HK Modular"/>
              </a:rPr>
              <a:t>EXAM PREPARATION    CHATBOT </a:t>
            </a:r>
          </a:p>
          <a:p>
            <a:pPr algn="ctr" marL="0" indent="0" lvl="0">
              <a:lnSpc>
                <a:spcPts val="15583"/>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872589"/>
            <a:ext cx="7315200" cy="771421"/>
          </a:xfrm>
          <a:custGeom>
            <a:avLst/>
            <a:gdLst/>
            <a:ahLst/>
            <a:cxnLst/>
            <a:rect r="r" b="b" t="t" l="l"/>
            <a:pathLst>
              <a:path h="771421" w="7315200">
                <a:moveTo>
                  <a:pt x="0" y="0"/>
                </a:moveTo>
                <a:lnTo>
                  <a:pt x="7315200" y="0"/>
                </a:lnTo>
                <a:lnTo>
                  <a:pt x="7315200" y="771422"/>
                </a:lnTo>
                <a:lnTo>
                  <a:pt x="0" y="771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944100" y="642989"/>
            <a:ext cx="7315200" cy="771421"/>
          </a:xfrm>
          <a:custGeom>
            <a:avLst/>
            <a:gdLst/>
            <a:ahLst/>
            <a:cxnLst/>
            <a:rect r="r" b="b" t="t" l="l"/>
            <a:pathLst>
              <a:path h="771421" w="7315200">
                <a:moveTo>
                  <a:pt x="7315200" y="0"/>
                </a:moveTo>
                <a:lnTo>
                  <a:pt x="0" y="0"/>
                </a:lnTo>
                <a:lnTo>
                  <a:pt x="0" y="771422"/>
                </a:lnTo>
                <a:lnTo>
                  <a:pt x="7315200" y="771422"/>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01900" y="801052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028700" y="-1814512"/>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1623060" y="5406494"/>
            <a:ext cx="5303520" cy="771421"/>
          </a:xfrm>
          <a:custGeom>
            <a:avLst/>
            <a:gdLst/>
            <a:ahLst/>
            <a:cxnLst/>
            <a:rect r="r" b="b" t="t" l="l"/>
            <a:pathLst>
              <a:path h="771421" w="5303520">
                <a:moveTo>
                  <a:pt x="0" y="0"/>
                </a:moveTo>
                <a:lnTo>
                  <a:pt x="5303520" y="0"/>
                </a:lnTo>
                <a:lnTo>
                  <a:pt x="5303520" y="771421"/>
                </a:lnTo>
                <a:lnTo>
                  <a:pt x="0" y="771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5400000">
            <a:off x="14607540" y="4109085"/>
            <a:ext cx="5303520" cy="771421"/>
          </a:xfrm>
          <a:custGeom>
            <a:avLst/>
            <a:gdLst/>
            <a:ahLst/>
            <a:cxnLst/>
            <a:rect r="r" b="b" t="t" l="l"/>
            <a:pathLst>
              <a:path h="771421" w="5303520">
                <a:moveTo>
                  <a:pt x="0" y="771421"/>
                </a:moveTo>
                <a:lnTo>
                  <a:pt x="5303520" y="771421"/>
                </a:lnTo>
                <a:lnTo>
                  <a:pt x="5303520" y="0"/>
                </a:lnTo>
                <a:lnTo>
                  <a:pt x="0" y="0"/>
                </a:lnTo>
                <a:lnTo>
                  <a:pt x="0" y="77142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366942" y="2564182"/>
            <a:ext cx="11554117" cy="1038225"/>
          </a:xfrm>
          <a:prstGeom prst="rect">
            <a:avLst/>
          </a:prstGeom>
        </p:spPr>
        <p:txBody>
          <a:bodyPr anchor="t" rtlCol="false" tIns="0" lIns="0" bIns="0" rIns="0">
            <a:spAutoFit/>
          </a:bodyPr>
          <a:lstStyle/>
          <a:p>
            <a:pPr algn="ctr" marL="0" indent="0" lvl="0">
              <a:lnSpc>
                <a:spcPts val="8185"/>
              </a:lnSpc>
              <a:spcBef>
                <a:spcPct val="0"/>
              </a:spcBef>
            </a:pPr>
            <a:r>
              <a:rPr lang="en-US" b="true" sz="6821" spc="204">
                <a:solidFill>
                  <a:srgbClr val="D9D9D9"/>
                </a:solidFill>
                <a:latin typeface="HK Modular"/>
                <a:ea typeface="HK Modular"/>
                <a:cs typeface="HK Modular"/>
                <a:sym typeface="HK Modular"/>
              </a:rPr>
              <a:t>PROJECT DETAILS</a:t>
            </a:r>
          </a:p>
        </p:txBody>
      </p:sp>
      <p:sp>
        <p:nvSpPr>
          <p:cNvPr name="TextBox 9" id="9"/>
          <p:cNvSpPr txBox="true"/>
          <p:nvPr/>
        </p:nvSpPr>
        <p:spPr>
          <a:xfrm rot="0">
            <a:off x="2147265" y="4062341"/>
            <a:ext cx="14203019" cy="4080316"/>
          </a:xfrm>
          <a:prstGeom prst="rect">
            <a:avLst/>
          </a:prstGeom>
        </p:spPr>
        <p:txBody>
          <a:bodyPr anchor="t" rtlCol="false" tIns="0" lIns="0" bIns="0" rIns="0">
            <a:spAutoFit/>
          </a:bodyPr>
          <a:lstStyle/>
          <a:p>
            <a:pPr algn="ctr">
              <a:lnSpc>
                <a:spcPts val="4671"/>
              </a:lnSpc>
              <a:spcBef>
                <a:spcPct val="0"/>
              </a:spcBef>
            </a:pPr>
            <a:r>
              <a:rPr lang="en-US" sz="3336">
                <a:solidFill>
                  <a:srgbClr val="D9D9D9"/>
                </a:solidFill>
                <a:latin typeface="Canva Sans"/>
                <a:ea typeface="Canva Sans"/>
                <a:cs typeface="Canva Sans"/>
                <a:sym typeface="Canva Sans"/>
              </a:rPr>
              <a:t>The </a:t>
            </a:r>
            <a:r>
              <a:rPr lang="en-US" sz="3336">
                <a:solidFill>
                  <a:srgbClr val="D9D9D9"/>
                </a:solidFill>
                <a:latin typeface="Canva Sans"/>
                <a:ea typeface="Canva Sans"/>
                <a:cs typeface="Canva Sans"/>
                <a:sym typeface="Canva Sans"/>
              </a:rPr>
              <a:t>Exam Preparation Chatbot using RAG is an AI-powered learning assistant that transforms PDF study materials into interactive learning resources. It provides accurate answers to students' questions and automatically generates summaries, notes, flashcards, and quizzes based on the uploaded content, making exam preparation smarter, faster, and more effective.</a:t>
            </a:r>
          </a:p>
          <a:p>
            <a:pPr algn="ctr">
              <a:lnSpc>
                <a:spcPts val="4671"/>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872589"/>
            <a:ext cx="7315200" cy="771421"/>
          </a:xfrm>
          <a:custGeom>
            <a:avLst/>
            <a:gdLst/>
            <a:ahLst/>
            <a:cxnLst/>
            <a:rect r="r" b="b" t="t" l="l"/>
            <a:pathLst>
              <a:path h="771421" w="7315200">
                <a:moveTo>
                  <a:pt x="0" y="0"/>
                </a:moveTo>
                <a:lnTo>
                  <a:pt x="7315200" y="0"/>
                </a:lnTo>
                <a:lnTo>
                  <a:pt x="7315200" y="771422"/>
                </a:lnTo>
                <a:lnTo>
                  <a:pt x="0" y="771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944100" y="642989"/>
            <a:ext cx="7315200" cy="771421"/>
          </a:xfrm>
          <a:custGeom>
            <a:avLst/>
            <a:gdLst/>
            <a:ahLst/>
            <a:cxnLst/>
            <a:rect r="r" b="b" t="t" l="l"/>
            <a:pathLst>
              <a:path h="771421" w="7315200">
                <a:moveTo>
                  <a:pt x="7315200" y="0"/>
                </a:moveTo>
                <a:lnTo>
                  <a:pt x="0" y="0"/>
                </a:lnTo>
                <a:lnTo>
                  <a:pt x="0" y="771422"/>
                </a:lnTo>
                <a:lnTo>
                  <a:pt x="7315200" y="771422"/>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01900" y="801052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028700" y="-1814512"/>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1623060" y="5406494"/>
            <a:ext cx="5303520" cy="771421"/>
          </a:xfrm>
          <a:custGeom>
            <a:avLst/>
            <a:gdLst/>
            <a:ahLst/>
            <a:cxnLst/>
            <a:rect r="r" b="b" t="t" l="l"/>
            <a:pathLst>
              <a:path h="771421" w="5303520">
                <a:moveTo>
                  <a:pt x="0" y="0"/>
                </a:moveTo>
                <a:lnTo>
                  <a:pt x="5303520" y="0"/>
                </a:lnTo>
                <a:lnTo>
                  <a:pt x="5303520" y="771421"/>
                </a:lnTo>
                <a:lnTo>
                  <a:pt x="0" y="771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5400000">
            <a:off x="14607540" y="4109085"/>
            <a:ext cx="5303520" cy="771421"/>
          </a:xfrm>
          <a:custGeom>
            <a:avLst/>
            <a:gdLst/>
            <a:ahLst/>
            <a:cxnLst/>
            <a:rect r="r" b="b" t="t" l="l"/>
            <a:pathLst>
              <a:path h="771421" w="5303520">
                <a:moveTo>
                  <a:pt x="0" y="771421"/>
                </a:moveTo>
                <a:lnTo>
                  <a:pt x="5303520" y="771421"/>
                </a:lnTo>
                <a:lnTo>
                  <a:pt x="5303520" y="0"/>
                </a:lnTo>
                <a:lnTo>
                  <a:pt x="0" y="0"/>
                </a:lnTo>
                <a:lnTo>
                  <a:pt x="0" y="77142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865260" y="3163825"/>
            <a:ext cx="16023860" cy="1595709"/>
          </a:xfrm>
          <a:prstGeom prst="rect">
            <a:avLst/>
          </a:prstGeom>
        </p:spPr>
        <p:txBody>
          <a:bodyPr anchor="t" rtlCol="false" tIns="0" lIns="0" bIns="0" rIns="0">
            <a:spAutoFit/>
          </a:bodyPr>
          <a:lstStyle/>
          <a:p>
            <a:pPr algn="l" marL="0" indent="0" lvl="0">
              <a:lnSpc>
                <a:spcPts val="4451"/>
              </a:lnSpc>
              <a:spcBef>
                <a:spcPct val="0"/>
              </a:spcBef>
            </a:pPr>
            <a:r>
              <a:rPr lang="en-US" b="true" sz="2967" spc="89" u="sng">
                <a:solidFill>
                  <a:srgbClr val="D9D9D9"/>
                </a:solidFill>
                <a:latin typeface="Sansation Bold"/>
                <a:ea typeface="Sansation Bold"/>
                <a:cs typeface="Sansation Bold"/>
                <a:sym typeface="Sansation Bold"/>
              </a:rPr>
              <a:t>TEJAL BONDE</a:t>
            </a:r>
            <a:r>
              <a:rPr lang="en-US" sz="2967" spc="89">
                <a:solidFill>
                  <a:srgbClr val="D9D9D9"/>
                </a:solidFill>
                <a:latin typeface="Sansation"/>
                <a:ea typeface="Sansation"/>
                <a:cs typeface="Sansation"/>
                <a:sym typeface="Sansation"/>
              </a:rPr>
              <a:t>: </a:t>
            </a:r>
            <a:r>
              <a:rPr lang="en-US" b="true" sz="2967" spc="89">
                <a:solidFill>
                  <a:srgbClr val="D9D9D9"/>
                </a:solidFill>
                <a:latin typeface="Sansation Bold"/>
                <a:ea typeface="Sansation Bold"/>
                <a:cs typeface="Sansation Bold"/>
                <a:sym typeface="Sansation Bold"/>
              </a:rPr>
              <a:t>PDF Processing Engineer</a:t>
            </a:r>
            <a:r>
              <a:rPr lang="en-US" sz="2967" spc="89">
                <a:solidFill>
                  <a:srgbClr val="D9D9D9"/>
                </a:solidFill>
                <a:latin typeface="Sansation"/>
                <a:ea typeface="Sansation"/>
                <a:cs typeface="Sansation"/>
                <a:sym typeface="Sansation"/>
              </a:rPr>
              <a:t> </a:t>
            </a:r>
            <a:r>
              <a:rPr lang="en-US" b="true" sz="2967" spc="89">
                <a:solidFill>
                  <a:srgbClr val="D9D9D9"/>
                </a:solidFill>
                <a:latin typeface="Sansation Bold"/>
                <a:ea typeface="Sansation Bold"/>
                <a:cs typeface="Sansation Bold"/>
                <a:sym typeface="Sansation Bold"/>
              </a:rPr>
              <a:t>→</a:t>
            </a:r>
            <a:r>
              <a:rPr lang="en-US" sz="2967" spc="89">
                <a:solidFill>
                  <a:srgbClr val="D9D9D9"/>
                </a:solidFill>
                <a:latin typeface="Sansation"/>
                <a:ea typeface="Sansation"/>
                <a:cs typeface="Sansation"/>
                <a:sym typeface="Sansation"/>
              </a:rPr>
              <a:t> </a:t>
            </a:r>
          </a:p>
          <a:p>
            <a:pPr algn="l" marL="0" indent="0" lvl="0">
              <a:lnSpc>
                <a:spcPts val="4151"/>
              </a:lnSpc>
              <a:spcBef>
                <a:spcPct val="0"/>
              </a:spcBef>
            </a:pPr>
            <a:r>
              <a:rPr lang="en-US" sz="2767" spc="83">
                <a:solidFill>
                  <a:srgbClr val="D9D9D9"/>
                </a:solidFill>
                <a:latin typeface="Sansation"/>
                <a:ea typeface="Sansation"/>
                <a:cs typeface="Sansation"/>
                <a:sym typeface="Sansation"/>
              </a:rPr>
              <a:t>Developed pdf_loader.py to load PDF documents into the system for further processing.</a:t>
            </a:r>
          </a:p>
          <a:p>
            <a:pPr algn="l" marL="0" indent="0" lvl="0">
              <a:lnSpc>
                <a:spcPts val="4151"/>
              </a:lnSpc>
              <a:spcBef>
                <a:spcPct val="0"/>
              </a:spcBef>
            </a:pPr>
          </a:p>
        </p:txBody>
      </p:sp>
      <p:sp>
        <p:nvSpPr>
          <p:cNvPr name="TextBox 9" id="9"/>
          <p:cNvSpPr txBox="true"/>
          <p:nvPr/>
        </p:nvSpPr>
        <p:spPr>
          <a:xfrm rot="0">
            <a:off x="3328842" y="1538287"/>
            <a:ext cx="11554117" cy="1304925"/>
          </a:xfrm>
          <a:prstGeom prst="rect">
            <a:avLst/>
          </a:prstGeom>
        </p:spPr>
        <p:txBody>
          <a:bodyPr anchor="t" rtlCol="false" tIns="0" lIns="0" bIns="0" rIns="0">
            <a:spAutoFit/>
          </a:bodyPr>
          <a:lstStyle/>
          <a:p>
            <a:pPr algn="ctr" marL="0" indent="0" lvl="0">
              <a:lnSpc>
                <a:spcPts val="5161"/>
              </a:lnSpc>
              <a:spcBef>
                <a:spcPct val="0"/>
              </a:spcBef>
            </a:pPr>
            <a:r>
              <a:rPr lang="en-US" b="true" sz="4300" spc="129">
                <a:solidFill>
                  <a:srgbClr val="D9D9D9"/>
                </a:solidFill>
                <a:latin typeface="HK Modular"/>
                <a:ea typeface="HK Modular"/>
                <a:cs typeface="HK Modular"/>
                <a:sym typeface="HK Modular"/>
              </a:rPr>
              <a:t>TEAM ROLES &amp; RESPONSIBILITIES</a:t>
            </a:r>
          </a:p>
        </p:txBody>
      </p:sp>
      <p:sp>
        <p:nvSpPr>
          <p:cNvPr name="TextBox 10" id="10"/>
          <p:cNvSpPr txBox="true"/>
          <p:nvPr/>
        </p:nvSpPr>
        <p:spPr>
          <a:xfrm rot="0">
            <a:off x="1865260" y="4478983"/>
            <a:ext cx="15167815" cy="1559303"/>
          </a:xfrm>
          <a:prstGeom prst="rect">
            <a:avLst/>
          </a:prstGeom>
        </p:spPr>
        <p:txBody>
          <a:bodyPr anchor="t" rtlCol="false" tIns="0" lIns="0" bIns="0" rIns="0">
            <a:spAutoFit/>
          </a:bodyPr>
          <a:lstStyle/>
          <a:p>
            <a:pPr algn="l" marL="0" indent="0" lvl="0">
              <a:lnSpc>
                <a:spcPts val="4385"/>
              </a:lnSpc>
              <a:spcBef>
                <a:spcPct val="0"/>
              </a:spcBef>
            </a:pPr>
            <a:r>
              <a:rPr lang="en-US" b="true" sz="2923" spc="87" u="sng">
                <a:solidFill>
                  <a:srgbClr val="D9D9D9"/>
                </a:solidFill>
                <a:latin typeface="Sansation Bold"/>
                <a:ea typeface="Sansation Bold"/>
                <a:cs typeface="Sansation Bold"/>
                <a:sym typeface="Sansation Bold"/>
              </a:rPr>
              <a:t>ANJALI SHARMA</a:t>
            </a:r>
            <a:r>
              <a:rPr lang="en-US" sz="2923" spc="87">
                <a:solidFill>
                  <a:srgbClr val="D9D9D9"/>
                </a:solidFill>
                <a:latin typeface="Sansation"/>
                <a:ea typeface="Sansation"/>
                <a:cs typeface="Sansation"/>
                <a:sym typeface="Sansation"/>
              </a:rPr>
              <a:t>: </a:t>
            </a:r>
            <a:r>
              <a:rPr lang="en-US" b="true" sz="2923" spc="87">
                <a:solidFill>
                  <a:srgbClr val="D9D9D9"/>
                </a:solidFill>
                <a:latin typeface="Sansation Bold"/>
                <a:ea typeface="Sansation Bold"/>
                <a:cs typeface="Sansation Bold"/>
                <a:sym typeface="Sansation Bold"/>
              </a:rPr>
              <a:t>Chunking Engineer</a:t>
            </a:r>
            <a:r>
              <a:rPr lang="en-US" sz="2923" spc="87">
                <a:solidFill>
                  <a:srgbClr val="D9D9D9"/>
                </a:solidFill>
                <a:latin typeface="Sansation"/>
                <a:ea typeface="Sansation"/>
                <a:cs typeface="Sansation"/>
                <a:sym typeface="Sansation"/>
              </a:rPr>
              <a:t> </a:t>
            </a:r>
            <a:r>
              <a:rPr lang="en-US" b="true" sz="2923" spc="87">
                <a:solidFill>
                  <a:srgbClr val="D9D9D9"/>
                </a:solidFill>
                <a:latin typeface="Sansation Bold"/>
                <a:ea typeface="Sansation Bold"/>
                <a:cs typeface="Sansation Bold"/>
                <a:sym typeface="Sansation Bold"/>
              </a:rPr>
              <a:t>→ </a:t>
            </a:r>
          </a:p>
          <a:p>
            <a:pPr algn="l" marL="0" indent="0" lvl="0">
              <a:lnSpc>
                <a:spcPts val="4085"/>
              </a:lnSpc>
              <a:spcBef>
                <a:spcPct val="0"/>
              </a:spcBef>
            </a:pPr>
            <a:r>
              <a:rPr lang="en-US" sz="2723" spc="81">
                <a:solidFill>
                  <a:srgbClr val="D9D9D9"/>
                </a:solidFill>
                <a:latin typeface="Sansation"/>
                <a:ea typeface="Sansation"/>
                <a:cs typeface="Sansation"/>
                <a:sym typeface="Sansation"/>
              </a:rPr>
              <a:t>Created text_splitter.py and managed chunk size &amp; overlap settings in config/settings.py.</a:t>
            </a:r>
          </a:p>
          <a:p>
            <a:pPr algn="l" marL="0" indent="0" lvl="0">
              <a:lnSpc>
                <a:spcPts val="4085"/>
              </a:lnSpc>
              <a:spcBef>
                <a:spcPct val="0"/>
              </a:spcBef>
            </a:pPr>
          </a:p>
        </p:txBody>
      </p:sp>
      <p:sp>
        <p:nvSpPr>
          <p:cNvPr name="TextBox 11" id="11"/>
          <p:cNvSpPr txBox="true"/>
          <p:nvPr/>
        </p:nvSpPr>
        <p:spPr>
          <a:xfrm rot="0">
            <a:off x="1865260" y="5766695"/>
            <a:ext cx="15387264" cy="2053795"/>
          </a:xfrm>
          <a:prstGeom prst="rect">
            <a:avLst/>
          </a:prstGeom>
        </p:spPr>
        <p:txBody>
          <a:bodyPr anchor="t" rtlCol="false" tIns="0" lIns="0" bIns="0" rIns="0">
            <a:spAutoFit/>
          </a:bodyPr>
          <a:lstStyle/>
          <a:p>
            <a:pPr algn="l" marL="0" indent="0" lvl="0">
              <a:lnSpc>
                <a:spcPts val="4491"/>
              </a:lnSpc>
              <a:spcBef>
                <a:spcPct val="0"/>
              </a:spcBef>
            </a:pPr>
            <a:r>
              <a:rPr lang="en-US" b="true" sz="2994" spc="89" u="sng">
                <a:solidFill>
                  <a:srgbClr val="D9D9D9"/>
                </a:solidFill>
                <a:latin typeface="Sansation Bold"/>
                <a:ea typeface="Sansation Bold"/>
                <a:cs typeface="Sansation Bold"/>
                <a:sym typeface="Sansation Bold"/>
              </a:rPr>
              <a:t>MANYA SINGH</a:t>
            </a:r>
            <a:r>
              <a:rPr lang="en-US" sz="2994" spc="89">
                <a:solidFill>
                  <a:srgbClr val="D9D9D9"/>
                </a:solidFill>
                <a:latin typeface="Sansation"/>
                <a:ea typeface="Sansation"/>
                <a:cs typeface="Sansation"/>
                <a:sym typeface="Sansation"/>
              </a:rPr>
              <a:t>: </a:t>
            </a:r>
            <a:r>
              <a:rPr lang="en-US" b="true" sz="2994" spc="89">
                <a:solidFill>
                  <a:srgbClr val="D9D9D9"/>
                </a:solidFill>
                <a:latin typeface="Sansation Bold"/>
                <a:ea typeface="Sansation Bold"/>
                <a:cs typeface="Sansation Bold"/>
                <a:sym typeface="Sansation Bold"/>
              </a:rPr>
              <a:t>Embedding Engineer</a:t>
            </a:r>
            <a:r>
              <a:rPr lang="en-US" sz="2994" spc="89">
                <a:solidFill>
                  <a:srgbClr val="D9D9D9"/>
                </a:solidFill>
                <a:latin typeface="Sansation"/>
                <a:ea typeface="Sansation"/>
                <a:cs typeface="Sansation"/>
                <a:sym typeface="Sansation"/>
              </a:rPr>
              <a:t> </a:t>
            </a:r>
            <a:r>
              <a:rPr lang="en-US" b="true" sz="2994" spc="89">
                <a:solidFill>
                  <a:srgbClr val="D9D9D9"/>
                </a:solidFill>
                <a:latin typeface="Sansation Bold"/>
                <a:ea typeface="Sansation Bold"/>
                <a:cs typeface="Sansation Bold"/>
                <a:sym typeface="Sansation Bold"/>
              </a:rPr>
              <a:t>→</a:t>
            </a:r>
            <a:r>
              <a:rPr lang="en-US" sz="2994" spc="89">
                <a:solidFill>
                  <a:srgbClr val="D9D9D9"/>
                </a:solidFill>
                <a:latin typeface="Sansation"/>
                <a:ea typeface="Sansation"/>
                <a:cs typeface="Sansation"/>
                <a:sym typeface="Sansation"/>
              </a:rPr>
              <a:t> </a:t>
            </a:r>
          </a:p>
          <a:p>
            <a:pPr algn="l" marL="0" indent="0" lvl="0">
              <a:lnSpc>
                <a:spcPts val="4041"/>
              </a:lnSpc>
              <a:spcBef>
                <a:spcPct val="0"/>
              </a:spcBef>
            </a:pPr>
            <a:r>
              <a:rPr lang="en-US" sz="2694" spc="80">
                <a:solidFill>
                  <a:srgbClr val="D9D9D9"/>
                </a:solidFill>
                <a:latin typeface="Sansation"/>
                <a:ea typeface="Sansation"/>
                <a:cs typeface="Sansation"/>
                <a:sym typeface="Sansation"/>
              </a:rPr>
              <a:t>Implemented embeddings.py to generate and cache HuggingFace embeddings for document vectors.</a:t>
            </a:r>
          </a:p>
          <a:p>
            <a:pPr algn="l" marL="0" indent="0" lvl="0">
              <a:lnSpc>
                <a:spcPts val="4041"/>
              </a:lnSpc>
              <a:spcBef>
                <a:spcPct val="0"/>
              </a:spcBef>
            </a:pPr>
          </a:p>
        </p:txBody>
      </p:sp>
      <p:sp>
        <p:nvSpPr>
          <p:cNvPr name="TextBox 12" id="12"/>
          <p:cNvSpPr txBox="true"/>
          <p:nvPr/>
        </p:nvSpPr>
        <p:spPr>
          <a:xfrm rot="0">
            <a:off x="1865260" y="7454157"/>
            <a:ext cx="15023390" cy="1531716"/>
          </a:xfrm>
          <a:prstGeom prst="rect">
            <a:avLst/>
          </a:prstGeom>
        </p:spPr>
        <p:txBody>
          <a:bodyPr anchor="t" rtlCol="false" tIns="0" lIns="0" bIns="0" rIns="0">
            <a:spAutoFit/>
          </a:bodyPr>
          <a:lstStyle/>
          <a:p>
            <a:pPr algn="l" marL="0" indent="0" lvl="0">
              <a:lnSpc>
                <a:spcPts val="4346"/>
              </a:lnSpc>
              <a:spcBef>
                <a:spcPct val="0"/>
              </a:spcBef>
            </a:pPr>
            <a:r>
              <a:rPr lang="en-US" b="true" sz="2897" spc="86" u="sng">
                <a:solidFill>
                  <a:srgbClr val="D9D9D9"/>
                </a:solidFill>
                <a:latin typeface="Sansation Bold"/>
                <a:ea typeface="Sansation Bold"/>
                <a:cs typeface="Sansation Bold"/>
                <a:sym typeface="Sansation Bold"/>
              </a:rPr>
              <a:t>BHAVIKA PAWAR</a:t>
            </a:r>
            <a:r>
              <a:rPr lang="en-US" b="true" sz="2897" spc="86">
                <a:solidFill>
                  <a:srgbClr val="D9D9D9"/>
                </a:solidFill>
                <a:latin typeface="Sansation Bold"/>
                <a:ea typeface="Sansation Bold"/>
                <a:cs typeface="Sansation Bold"/>
                <a:sym typeface="Sansation Bold"/>
              </a:rPr>
              <a:t> </a:t>
            </a:r>
            <a:r>
              <a:rPr lang="en-US" sz="2897" spc="86">
                <a:solidFill>
                  <a:srgbClr val="D9D9D9"/>
                </a:solidFill>
                <a:latin typeface="Sansation"/>
                <a:ea typeface="Sansation"/>
                <a:cs typeface="Sansation"/>
                <a:sym typeface="Sansation"/>
              </a:rPr>
              <a:t>: </a:t>
            </a:r>
            <a:r>
              <a:rPr lang="en-US" b="true" sz="2897" spc="86">
                <a:solidFill>
                  <a:srgbClr val="D9D9D9"/>
                </a:solidFill>
                <a:latin typeface="Sansation Bold"/>
                <a:ea typeface="Sansation Bold"/>
                <a:cs typeface="Sansation Bold"/>
                <a:sym typeface="Sansation Bold"/>
              </a:rPr>
              <a:t>FAISS Engineer</a:t>
            </a:r>
            <a:r>
              <a:rPr lang="en-US" sz="2897" spc="86">
                <a:solidFill>
                  <a:srgbClr val="D9D9D9"/>
                </a:solidFill>
                <a:latin typeface="Sansation"/>
                <a:ea typeface="Sansation"/>
                <a:cs typeface="Sansation"/>
                <a:sym typeface="Sansation"/>
              </a:rPr>
              <a:t> </a:t>
            </a:r>
            <a:r>
              <a:rPr lang="en-US" b="true" sz="2897" spc="86">
                <a:solidFill>
                  <a:srgbClr val="D9D9D9"/>
                </a:solidFill>
                <a:latin typeface="Sansation Bold"/>
                <a:ea typeface="Sansation Bold"/>
                <a:cs typeface="Sansation Bold"/>
                <a:sym typeface="Sansation Bold"/>
              </a:rPr>
              <a:t>→</a:t>
            </a:r>
            <a:r>
              <a:rPr lang="en-US" sz="2897" spc="86">
                <a:solidFill>
                  <a:srgbClr val="D9D9D9"/>
                </a:solidFill>
                <a:latin typeface="Sansation"/>
                <a:ea typeface="Sansation"/>
                <a:cs typeface="Sansation"/>
                <a:sym typeface="Sansation"/>
              </a:rPr>
              <a:t> </a:t>
            </a:r>
          </a:p>
          <a:p>
            <a:pPr algn="l" marL="0" indent="0" lvl="0">
              <a:lnSpc>
                <a:spcPts val="4046"/>
              </a:lnSpc>
              <a:spcBef>
                <a:spcPct val="0"/>
              </a:spcBef>
            </a:pPr>
            <a:r>
              <a:rPr lang="en-US" sz="2697" spc="80">
                <a:solidFill>
                  <a:srgbClr val="D9D9D9"/>
                </a:solidFill>
                <a:latin typeface="Sansation"/>
                <a:ea typeface="Sansation"/>
                <a:cs typeface="Sansation"/>
                <a:sym typeface="Sansation"/>
              </a:rPr>
              <a:t>Developed vector_db.py to create, save, load, and manage the FAISS vector database.</a:t>
            </a:r>
          </a:p>
          <a:p>
            <a:pPr algn="l" marL="0" indent="0" lvl="0">
              <a:lnSpc>
                <a:spcPts val="4046"/>
              </a:lnSpc>
              <a:spcBef>
                <a:spcPct val="0"/>
              </a:spcBef>
            </a:pPr>
          </a:p>
        </p:txBody>
      </p:sp>
      <p:grpSp>
        <p:nvGrpSpPr>
          <p:cNvPr name="Group 13" id="13"/>
          <p:cNvGrpSpPr/>
          <p:nvPr/>
        </p:nvGrpSpPr>
        <p:grpSpPr>
          <a:xfrm rot="0">
            <a:off x="1554760" y="3387421"/>
            <a:ext cx="208249" cy="20824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9D9D9"/>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6" id="16"/>
          <p:cNvGrpSpPr/>
          <p:nvPr/>
        </p:nvGrpSpPr>
        <p:grpSpPr>
          <a:xfrm rot="0">
            <a:off x="1554760" y="4700790"/>
            <a:ext cx="208249" cy="208249"/>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9D9D9"/>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9" id="19"/>
          <p:cNvGrpSpPr/>
          <p:nvPr/>
        </p:nvGrpSpPr>
        <p:grpSpPr>
          <a:xfrm rot="0">
            <a:off x="1554760" y="5975839"/>
            <a:ext cx="208249" cy="208249"/>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9D9D9"/>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2" id="22"/>
          <p:cNvGrpSpPr/>
          <p:nvPr/>
        </p:nvGrpSpPr>
        <p:grpSpPr>
          <a:xfrm rot="0">
            <a:off x="1554760" y="7657281"/>
            <a:ext cx="208249" cy="208249"/>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9D9D9"/>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934682"/>
            <a:ext cx="7315200" cy="771421"/>
          </a:xfrm>
          <a:custGeom>
            <a:avLst/>
            <a:gdLst/>
            <a:ahLst/>
            <a:cxnLst/>
            <a:rect r="r" b="b" t="t" l="l"/>
            <a:pathLst>
              <a:path h="771421" w="7315200">
                <a:moveTo>
                  <a:pt x="0" y="0"/>
                </a:moveTo>
                <a:lnTo>
                  <a:pt x="7315200" y="0"/>
                </a:lnTo>
                <a:lnTo>
                  <a:pt x="7315200" y="771421"/>
                </a:lnTo>
                <a:lnTo>
                  <a:pt x="0" y="7714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944100" y="642989"/>
            <a:ext cx="7315200" cy="771421"/>
          </a:xfrm>
          <a:custGeom>
            <a:avLst/>
            <a:gdLst/>
            <a:ahLst/>
            <a:cxnLst/>
            <a:rect r="r" b="b" t="t" l="l"/>
            <a:pathLst>
              <a:path h="771421" w="7315200">
                <a:moveTo>
                  <a:pt x="7315200" y="0"/>
                </a:moveTo>
                <a:lnTo>
                  <a:pt x="0" y="0"/>
                </a:lnTo>
                <a:lnTo>
                  <a:pt x="0" y="771422"/>
                </a:lnTo>
                <a:lnTo>
                  <a:pt x="7315200" y="771422"/>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01900" y="801052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028700" y="-1814512"/>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1623060" y="5406494"/>
            <a:ext cx="5303520" cy="771421"/>
          </a:xfrm>
          <a:custGeom>
            <a:avLst/>
            <a:gdLst/>
            <a:ahLst/>
            <a:cxnLst/>
            <a:rect r="r" b="b" t="t" l="l"/>
            <a:pathLst>
              <a:path h="771421" w="5303520">
                <a:moveTo>
                  <a:pt x="0" y="0"/>
                </a:moveTo>
                <a:lnTo>
                  <a:pt x="5303520" y="0"/>
                </a:lnTo>
                <a:lnTo>
                  <a:pt x="5303520" y="771421"/>
                </a:lnTo>
                <a:lnTo>
                  <a:pt x="0" y="771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5400000">
            <a:off x="14607540" y="4109085"/>
            <a:ext cx="5303520" cy="771421"/>
          </a:xfrm>
          <a:custGeom>
            <a:avLst/>
            <a:gdLst/>
            <a:ahLst/>
            <a:cxnLst/>
            <a:rect r="r" b="b" t="t" l="l"/>
            <a:pathLst>
              <a:path h="771421" w="5303520">
                <a:moveTo>
                  <a:pt x="0" y="771421"/>
                </a:moveTo>
                <a:lnTo>
                  <a:pt x="5303520" y="771421"/>
                </a:lnTo>
                <a:lnTo>
                  <a:pt x="5303520" y="0"/>
                </a:lnTo>
                <a:lnTo>
                  <a:pt x="0" y="0"/>
                </a:lnTo>
                <a:lnTo>
                  <a:pt x="0" y="77142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905885" y="2150104"/>
            <a:ext cx="14787095" cy="2054860"/>
          </a:xfrm>
          <a:prstGeom prst="rect">
            <a:avLst/>
          </a:prstGeom>
        </p:spPr>
        <p:txBody>
          <a:bodyPr anchor="t" rtlCol="false" tIns="0" lIns="0" bIns="0" rIns="0">
            <a:spAutoFit/>
          </a:bodyPr>
          <a:lstStyle/>
          <a:p>
            <a:pPr algn="l" marL="0" indent="0" lvl="0">
              <a:lnSpc>
                <a:spcPts val="4299"/>
              </a:lnSpc>
              <a:spcBef>
                <a:spcPct val="0"/>
              </a:spcBef>
            </a:pPr>
            <a:r>
              <a:rPr lang="en-US" b="true" sz="2866" spc="85" u="sng">
                <a:solidFill>
                  <a:srgbClr val="D9D9D9"/>
                </a:solidFill>
                <a:latin typeface="Sansation Bold"/>
                <a:ea typeface="Sansation Bold"/>
                <a:cs typeface="Sansation Bold"/>
                <a:sym typeface="Sansation Bold"/>
              </a:rPr>
              <a:t>NIHALI ROKADE</a:t>
            </a:r>
            <a:r>
              <a:rPr lang="en-US" b="true" sz="2866" spc="85">
                <a:solidFill>
                  <a:srgbClr val="D9D9D9"/>
                </a:solidFill>
                <a:latin typeface="Sansation Bold"/>
                <a:ea typeface="Sansation Bold"/>
                <a:cs typeface="Sansation Bold"/>
                <a:sym typeface="Sansation Bold"/>
              </a:rPr>
              <a:t> </a:t>
            </a:r>
            <a:r>
              <a:rPr lang="en-US" sz="2866" spc="85">
                <a:solidFill>
                  <a:srgbClr val="D9D9D9"/>
                </a:solidFill>
                <a:latin typeface="Sansation"/>
                <a:ea typeface="Sansation"/>
                <a:cs typeface="Sansation"/>
                <a:sym typeface="Sansation"/>
              </a:rPr>
              <a:t>: </a:t>
            </a:r>
            <a:r>
              <a:rPr lang="en-US" b="true" sz="2866" spc="85">
                <a:solidFill>
                  <a:srgbClr val="D9D9D9"/>
                </a:solidFill>
                <a:latin typeface="Sansation Bold"/>
                <a:ea typeface="Sansation Bold"/>
                <a:cs typeface="Sansation Bold"/>
                <a:sym typeface="Sansation Bold"/>
              </a:rPr>
              <a:t>Retrieval &amp; Evaluation Engineer</a:t>
            </a:r>
            <a:r>
              <a:rPr lang="en-US" sz="2866" spc="85">
                <a:solidFill>
                  <a:srgbClr val="D9D9D9"/>
                </a:solidFill>
                <a:latin typeface="Sansation"/>
                <a:ea typeface="Sansation"/>
                <a:cs typeface="Sansation"/>
                <a:sym typeface="Sansation"/>
              </a:rPr>
              <a:t> </a:t>
            </a:r>
            <a:r>
              <a:rPr lang="en-US" b="true" sz="2866" spc="85">
                <a:solidFill>
                  <a:srgbClr val="D9D9D9"/>
                </a:solidFill>
                <a:latin typeface="Sansation Bold"/>
                <a:ea typeface="Sansation Bold"/>
                <a:cs typeface="Sansation Bold"/>
                <a:sym typeface="Sansation Bold"/>
              </a:rPr>
              <a:t>→ </a:t>
            </a:r>
          </a:p>
          <a:p>
            <a:pPr algn="l" marL="0" indent="0" lvl="0">
              <a:lnSpc>
                <a:spcPts val="4000"/>
              </a:lnSpc>
              <a:spcBef>
                <a:spcPct val="0"/>
              </a:spcBef>
            </a:pPr>
            <a:r>
              <a:rPr lang="en-US" sz="2666" spc="80">
                <a:solidFill>
                  <a:srgbClr val="D9D9D9"/>
                </a:solidFill>
                <a:latin typeface="Sansation"/>
                <a:ea typeface="Sansation"/>
                <a:cs typeface="Sansation"/>
                <a:sym typeface="Sansation"/>
              </a:rPr>
              <a:t>Developed retriever.py and evaluation modules to retrieve relevant document chunks and measure system performance.</a:t>
            </a:r>
          </a:p>
          <a:p>
            <a:pPr algn="l" marL="0" indent="0" lvl="0">
              <a:lnSpc>
                <a:spcPts val="4150"/>
              </a:lnSpc>
              <a:spcBef>
                <a:spcPct val="0"/>
              </a:spcBef>
            </a:pPr>
          </a:p>
        </p:txBody>
      </p:sp>
      <p:sp>
        <p:nvSpPr>
          <p:cNvPr name="TextBox 9" id="9"/>
          <p:cNvSpPr txBox="true"/>
          <p:nvPr/>
        </p:nvSpPr>
        <p:spPr>
          <a:xfrm rot="0">
            <a:off x="1905885" y="3842108"/>
            <a:ext cx="14649313" cy="1495574"/>
          </a:xfrm>
          <a:prstGeom prst="rect">
            <a:avLst/>
          </a:prstGeom>
        </p:spPr>
        <p:txBody>
          <a:bodyPr anchor="t" rtlCol="false" tIns="0" lIns="0" bIns="0" rIns="0">
            <a:spAutoFit/>
          </a:bodyPr>
          <a:lstStyle/>
          <a:p>
            <a:pPr algn="l" marL="0" indent="0" lvl="0">
              <a:lnSpc>
                <a:spcPts val="4342"/>
              </a:lnSpc>
              <a:spcBef>
                <a:spcPct val="0"/>
              </a:spcBef>
            </a:pPr>
            <a:r>
              <a:rPr lang="en-US" b="true" sz="2894" spc="86" u="sng">
                <a:solidFill>
                  <a:srgbClr val="D9D9D9"/>
                </a:solidFill>
                <a:latin typeface="Sansation Bold"/>
                <a:ea typeface="Sansation Bold"/>
                <a:cs typeface="Sansation Bold"/>
                <a:sym typeface="Sansation Bold"/>
              </a:rPr>
              <a:t>ANUJA PISAL</a:t>
            </a:r>
            <a:r>
              <a:rPr lang="en-US" b="true" sz="2894" spc="86">
                <a:solidFill>
                  <a:srgbClr val="D9D9D9"/>
                </a:solidFill>
                <a:latin typeface="Sansation Bold"/>
                <a:ea typeface="Sansation Bold"/>
                <a:cs typeface="Sansation Bold"/>
                <a:sym typeface="Sansation Bold"/>
              </a:rPr>
              <a:t> </a:t>
            </a:r>
            <a:r>
              <a:rPr lang="en-US" sz="2894" spc="86">
                <a:solidFill>
                  <a:srgbClr val="D9D9D9"/>
                </a:solidFill>
                <a:latin typeface="Sansation"/>
                <a:ea typeface="Sansation"/>
                <a:cs typeface="Sansation"/>
                <a:sym typeface="Sansation"/>
              </a:rPr>
              <a:t>:</a:t>
            </a:r>
            <a:r>
              <a:rPr lang="en-US" b="true" sz="2894" spc="86">
                <a:solidFill>
                  <a:srgbClr val="D9D9D9"/>
                </a:solidFill>
                <a:latin typeface="Sansation Bold"/>
                <a:ea typeface="Sansation Bold"/>
                <a:cs typeface="Sansation Bold"/>
                <a:sym typeface="Sansation Bold"/>
              </a:rPr>
              <a:t> LLM &amp; Services Engineer →</a:t>
            </a:r>
            <a:r>
              <a:rPr lang="en-US" sz="2894" spc="86">
                <a:solidFill>
                  <a:srgbClr val="D9D9D9"/>
                </a:solidFill>
                <a:latin typeface="Sansation"/>
                <a:ea typeface="Sansation"/>
                <a:cs typeface="Sansation"/>
                <a:sym typeface="Sansation"/>
              </a:rPr>
              <a:t> </a:t>
            </a:r>
          </a:p>
          <a:p>
            <a:pPr algn="l" marL="0" indent="0" lvl="0">
              <a:lnSpc>
                <a:spcPts val="3895"/>
              </a:lnSpc>
              <a:spcBef>
                <a:spcPct val="0"/>
              </a:spcBef>
            </a:pPr>
            <a:r>
              <a:rPr lang="en-US" sz="2597" spc="77">
                <a:solidFill>
                  <a:srgbClr val="D9D9D9"/>
                </a:solidFill>
                <a:latin typeface="Sansation"/>
                <a:ea typeface="Sansation"/>
                <a:cs typeface="Sansation"/>
                <a:sym typeface="Sansation"/>
              </a:rPr>
              <a:t>Built the shared backend infrastructure including LLM integration, prompt handling, parser, logging, decorators, and service modules.</a:t>
            </a:r>
          </a:p>
        </p:txBody>
      </p:sp>
      <p:sp>
        <p:nvSpPr>
          <p:cNvPr name="TextBox 10" id="10"/>
          <p:cNvSpPr txBox="true"/>
          <p:nvPr/>
        </p:nvSpPr>
        <p:spPr>
          <a:xfrm rot="0">
            <a:off x="1905885" y="5578775"/>
            <a:ext cx="14649313" cy="2036804"/>
          </a:xfrm>
          <a:prstGeom prst="rect">
            <a:avLst/>
          </a:prstGeom>
        </p:spPr>
        <p:txBody>
          <a:bodyPr anchor="t" rtlCol="false" tIns="0" lIns="0" bIns="0" rIns="0">
            <a:spAutoFit/>
          </a:bodyPr>
          <a:lstStyle/>
          <a:p>
            <a:pPr algn="l" marL="0" indent="0" lvl="0">
              <a:lnSpc>
                <a:spcPts val="4335"/>
              </a:lnSpc>
              <a:spcBef>
                <a:spcPct val="0"/>
              </a:spcBef>
            </a:pPr>
            <a:r>
              <a:rPr lang="en-US" b="true" sz="2890" spc="86" u="sng">
                <a:solidFill>
                  <a:srgbClr val="D9D9D9"/>
                </a:solidFill>
                <a:latin typeface="Sansation Bold"/>
                <a:ea typeface="Sansation Bold"/>
                <a:cs typeface="Sansation Bold"/>
                <a:sym typeface="Sansation Bold"/>
              </a:rPr>
              <a:t>TEJASWI SALIAN</a:t>
            </a:r>
            <a:r>
              <a:rPr lang="en-US" sz="2890" spc="86">
                <a:solidFill>
                  <a:srgbClr val="D9D9D9"/>
                </a:solidFill>
                <a:latin typeface="Sansation"/>
                <a:ea typeface="Sansation"/>
                <a:cs typeface="Sansation"/>
                <a:sym typeface="Sansation"/>
              </a:rPr>
              <a:t> </a:t>
            </a:r>
            <a:r>
              <a:rPr lang="en-US" sz="2890" spc="86">
                <a:solidFill>
                  <a:srgbClr val="D9D9D9"/>
                </a:solidFill>
                <a:latin typeface="Sansation"/>
                <a:ea typeface="Sansation"/>
                <a:cs typeface="Sansation"/>
                <a:sym typeface="Sansation"/>
              </a:rPr>
              <a:t>:</a:t>
            </a:r>
            <a:r>
              <a:rPr lang="en-US" b="true" sz="2890" spc="86">
                <a:solidFill>
                  <a:srgbClr val="D9D9D9"/>
                </a:solidFill>
                <a:latin typeface="Sansation Bold"/>
                <a:ea typeface="Sansation Bold"/>
                <a:cs typeface="Sansation Bold"/>
                <a:sym typeface="Sansation Bold"/>
              </a:rPr>
              <a:t> Study Tools Engineer</a:t>
            </a:r>
            <a:r>
              <a:rPr lang="en-US" sz="2890" spc="86">
                <a:solidFill>
                  <a:srgbClr val="D9D9D9"/>
                </a:solidFill>
                <a:latin typeface="Sansation"/>
                <a:ea typeface="Sansation"/>
                <a:cs typeface="Sansation"/>
                <a:sym typeface="Sansation"/>
              </a:rPr>
              <a:t> </a:t>
            </a:r>
            <a:r>
              <a:rPr lang="en-US" b="true" sz="2890" spc="86">
                <a:solidFill>
                  <a:srgbClr val="D9D9D9"/>
                </a:solidFill>
                <a:latin typeface="Sansation Bold"/>
                <a:ea typeface="Sansation Bold"/>
                <a:cs typeface="Sansation Bold"/>
                <a:sym typeface="Sansation Bold"/>
              </a:rPr>
              <a:t>→</a:t>
            </a:r>
            <a:r>
              <a:rPr lang="en-US" sz="2890" spc="86">
                <a:solidFill>
                  <a:srgbClr val="D9D9D9"/>
                </a:solidFill>
                <a:latin typeface="Sansation"/>
                <a:ea typeface="Sansation"/>
                <a:cs typeface="Sansation"/>
                <a:sym typeface="Sansation"/>
              </a:rPr>
              <a:t> </a:t>
            </a:r>
          </a:p>
          <a:p>
            <a:pPr algn="l" marL="0" indent="0" lvl="0">
              <a:lnSpc>
                <a:spcPts val="4036"/>
              </a:lnSpc>
              <a:spcBef>
                <a:spcPct val="0"/>
              </a:spcBef>
            </a:pPr>
            <a:r>
              <a:rPr lang="en-US" sz="2691" spc="80">
                <a:solidFill>
                  <a:srgbClr val="D9D9D9"/>
                </a:solidFill>
                <a:latin typeface="Sansation"/>
                <a:ea typeface="Sansation"/>
                <a:cs typeface="Sansation"/>
                <a:sym typeface="Sansation"/>
              </a:rPr>
              <a:t>Developed AI-powered study tools including Summary, Notes, Flashcard Generator and Question Answering module.</a:t>
            </a:r>
          </a:p>
          <a:p>
            <a:pPr algn="l" marL="0" indent="0" lvl="0">
              <a:lnSpc>
                <a:spcPts val="4036"/>
              </a:lnSpc>
              <a:spcBef>
                <a:spcPct val="0"/>
              </a:spcBef>
            </a:pPr>
          </a:p>
        </p:txBody>
      </p:sp>
      <p:sp>
        <p:nvSpPr>
          <p:cNvPr name="TextBox 11" id="11"/>
          <p:cNvSpPr txBox="true"/>
          <p:nvPr/>
        </p:nvSpPr>
        <p:spPr>
          <a:xfrm rot="0">
            <a:off x="1905885" y="7274448"/>
            <a:ext cx="14194442" cy="2036420"/>
          </a:xfrm>
          <a:prstGeom prst="rect">
            <a:avLst/>
          </a:prstGeom>
        </p:spPr>
        <p:txBody>
          <a:bodyPr anchor="t" rtlCol="false" tIns="0" lIns="0" bIns="0" rIns="0">
            <a:spAutoFit/>
          </a:bodyPr>
          <a:lstStyle/>
          <a:p>
            <a:pPr algn="l" marL="0" indent="0" lvl="0">
              <a:lnSpc>
                <a:spcPts val="4351"/>
              </a:lnSpc>
              <a:spcBef>
                <a:spcPct val="0"/>
              </a:spcBef>
            </a:pPr>
            <a:r>
              <a:rPr lang="en-US" b="true" sz="2900" spc="87" u="sng">
                <a:solidFill>
                  <a:srgbClr val="D9D9D9"/>
                </a:solidFill>
                <a:latin typeface="Sansation Bold"/>
                <a:ea typeface="Sansation Bold"/>
                <a:cs typeface="Sansation Bold"/>
                <a:sym typeface="Sansation Bold"/>
              </a:rPr>
              <a:t>KALPITA NAIK</a:t>
            </a:r>
            <a:r>
              <a:rPr lang="en-US" sz="2900" spc="87">
                <a:solidFill>
                  <a:srgbClr val="D9D9D9"/>
                </a:solidFill>
                <a:latin typeface="Sansation"/>
                <a:ea typeface="Sansation"/>
                <a:cs typeface="Sansation"/>
                <a:sym typeface="Sansation"/>
              </a:rPr>
              <a:t> </a:t>
            </a:r>
            <a:r>
              <a:rPr lang="en-US" sz="2900" spc="87">
                <a:solidFill>
                  <a:srgbClr val="D9D9D9"/>
                </a:solidFill>
                <a:latin typeface="Sansation"/>
                <a:ea typeface="Sansation"/>
                <a:cs typeface="Sansation"/>
                <a:sym typeface="Sansation"/>
              </a:rPr>
              <a:t>: </a:t>
            </a:r>
            <a:r>
              <a:rPr lang="en-US" b="true" sz="2900" spc="87">
                <a:solidFill>
                  <a:srgbClr val="D9D9D9"/>
                </a:solidFill>
                <a:latin typeface="Sansation Bold"/>
                <a:ea typeface="Sansation Bold"/>
                <a:cs typeface="Sansation Bold"/>
                <a:sym typeface="Sansation Bold"/>
              </a:rPr>
              <a:t>Frontend Engineer</a:t>
            </a:r>
            <a:r>
              <a:rPr lang="en-US" sz="2900" spc="87">
                <a:solidFill>
                  <a:srgbClr val="D9D9D9"/>
                </a:solidFill>
                <a:latin typeface="Sansation"/>
                <a:ea typeface="Sansation"/>
                <a:cs typeface="Sansation"/>
                <a:sym typeface="Sansation"/>
              </a:rPr>
              <a:t> </a:t>
            </a:r>
            <a:r>
              <a:rPr lang="en-US" b="true" sz="2900" spc="87">
                <a:solidFill>
                  <a:srgbClr val="D9D9D9"/>
                </a:solidFill>
                <a:latin typeface="Sansation Bold"/>
                <a:ea typeface="Sansation Bold"/>
                <a:cs typeface="Sansation Bold"/>
                <a:sym typeface="Sansation Bold"/>
              </a:rPr>
              <a:t>→</a:t>
            </a:r>
            <a:r>
              <a:rPr lang="en-US" sz="2900" spc="87">
                <a:solidFill>
                  <a:srgbClr val="D9D9D9"/>
                </a:solidFill>
                <a:latin typeface="Sansation"/>
                <a:ea typeface="Sansation"/>
                <a:cs typeface="Sansation"/>
                <a:sym typeface="Sansation"/>
              </a:rPr>
              <a:t> </a:t>
            </a:r>
          </a:p>
          <a:p>
            <a:pPr algn="l" marL="0" indent="0" lvl="0">
              <a:lnSpc>
                <a:spcPts val="3901"/>
              </a:lnSpc>
              <a:spcBef>
                <a:spcPct val="0"/>
              </a:spcBef>
            </a:pPr>
            <a:r>
              <a:rPr lang="en-US" sz="2600" spc="78">
                <a:solidFill>
                  <a:srgbClr val="D9D9D9"/>
                </a:solidFill>
                <a:latin typeface="Sansation"/>
                <a:ea typeface="Sansation"/>
                <a:cs typeface="Sansation"/>
                <a:sym typeface="Sansation"/>
              </a:rPr>
              <a:t>Designed and developed the user interface using HTML, CSS, JavaScript, and app.py, integrating all backend components into the final application.</a:t>
            </a:r>
          </a:p>
          <a:p>
            <a:pPr algn="l" marL="0" indent="0" lvl="0">
              <a:lnSpc>
                <a:spcPts val="4050"/>
              </a:lnSpc>
              <a:spcBef>
                <a:spcPct val="0"/>
              </a:spcBef>
            </a:pPr>
          </a:p>
        </p:txBody>
      </p:sp>
      <p:grpSp>
        <p:nvGrpSpPr>
          <p:cNvPr name="Group 12" id="12"/>
          <p:cNvGrpSpPr/>
          <p:nvPr/>
        </p:nvGrpSpPr>
        <p:grpSpPr>
          <a:xfrm rot="0">
            <a:off x="1554760" y="2360695"/>
            <a:ext cx="208249" cy="20824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9D9D9"/>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5" id="15"/>
          <p:cNvGrpSpPr/>
          <p:nvPr/>
        </p:nvGrpSpPr>
        <p:grpSpPr>
          <a:xfrm rot="0">
            <a:off x="1554760" y="4017128"/>
            <a:ext cx="208249" cy="20824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9D9D9"/>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8" id="18"/>
          <p:cNvGrpSpPr/>
          <p:nvPr/>
        </p:nvGrpSpPr>
        <p:grpSpPr>
          <a:xfrm rot="0">
            <a:off x="1554760" y="5735054"/>
            <a:ext cx="208249" cy="20824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9D9D9"/>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1" id="21"/>
          <p:cNvGrpSpPr/>
          <p:nvPr/>
        </p:nvGrpSpPr>
        <p:grpSpPr>
          <a:xfrm rot="0">
            <a:off x="1554760" y="7439507"/>
            <a:ext cx="208249" cy="20824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9D9D9"/>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872589"/>
            <a:ext cx="7315200" cy="771421"/>
          </a:xfrm>
          <a:custGeom>
            <a:avLst/>
            <a:gdLst/>
            <a:ahLst/>
            <a:cxnLst/>
            <a:rect r="r" b="b" t="t" l="l"/>
            <a:pathLst>
              <a:path h="771421" w="7315200">
                <a:moveTo>
                  <a:pt x="0" y="0"/>
                </a:moveTo>
                <a:lnTo>
                  <a:pt x="7315200" y="0"/>
                </a:lnTo>
                <a:lnTo>
                  <a:pt x="7315200" y="771422"/>
                </a:lnTo>
                <a:lnTo>
                  <a:pt x="0" y="771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944100" y="642989"/>
            <a:ext cx="7315200" cy="771421"/>
          </a:xfrm>
          <a:custGeom>
            <a:avLst/>
            <a:gdLst/>
            <a:ahLst/>
            <a:cxnLst/>
            <a:rect r="r" b="b" t="t" l="l"/>
            <a:pathLst>
              <a:path h="771421" w="7315200">
                <a:moveTo>
                  <a:pt x="7315200" y="0"/>
                </a:moveTo>
                <a:lnTo>
                  <a:pt x="0" y="0"/>
                </a:lnTo>
                <a:lnTo>
                  <a:pt x="0" y="771422"/>
                </a:lnTo>
                <a:lnTo>
                  <a:pt x="7315200" y="771422"/>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01900" y="801052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028700" y="-1814512"/>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1623060" y="5406494"/>
            <a:ext cx="5303520" cy="771421"/>
          </a:xfrm>
          <a:custGeom>
            <a:avLst/>
            <a:gdLst/>
            <a:ahLst/>
            <a:cxnLst/>
            <a:rect r="r" b="b" t="t" l="l"/>
            <a:pathLst>
              <a:path h="771421" w="5303520">
                <a:moveTo>
                  <a:pt x="0" y="0"/>
                </a:moveTo>
                <a:lnTo>
                  <a:pt x="5303520" y="0"/>
                </a:lnTo>
                <a:lnTo>
                  <a:pt x="5303520" y="771421"/>
                </a:lnTo>
                <a:lnTo>
                  <a:pt x="0" y="771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5400000">
            <a:off x="14607540" y="4109085"/>
            <a:ext cx="5303520" cy="771421"/>
          </a:xfrm>
          <a:custGeom>
            <a:avLst/>
            <a:gdLst/>
            <a:ahLst/>
            <a:cxnLst/>
            <a:rect r="r" b="b" t="t" l="l"/>
            <a:pathLst>
              <a:path h="771421" w="5303520">
                <a:moveTo>
                  <a:pt x="0" y="771421"/>
                </a:moveTo>
                <a:lnTo>
                  <a:pt x="5303520" y="771421"/>
                </a:lnTo>
                <a:lnTo>
                  <a:pt x="5303520" y="0"/>
                </a:lnTo>
                <a:lnTo>
                  <a:pt x="0" y="0"/>
                </a:lnTo>
                <a:lnTo>
                  <a:pt x="0" y="77142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752508" y="2076926"/>
            <a:ext cx="12449392" cy="6948498"/>
          </a:xfrm>
          <a:custGeom>
            <a:avLst/>
            <a:gdLst/>
            <a:ahLst/>
            <a:cxnLst/>
            <a:rect r="r" b="b" t="t" l="l"/>
            <a:pathLst>
              <a:path h="6948498" w="12449392">
                <a:moveTo>
                  <a:pt x="0" y="0"/>
                </a:moveTo>
                <a:lnTo>
                  <a:pt x="12449392" y="0"/>
                </a:lnTo>
                <a:lnTo>
                  <a:pt x="12449392" y="6948498"/>
                </a:lnTo>
                <a:lnTo>
                  <a:pt x="0" y="6948498"/>
                </a:lnTo>
                <a:lnTo>
                  <a:pt x="0" y="0"/>
                </a:lnTo>
                <a:close/>
              </a:path>
            </a:pathLst>
          </a:custGeom>
          <a:blipFill>
            <a:blip r:embed="rId8"/>
            <a:stretch>
              <a:fillRect l="0" t="0" r="0" b="0"/>
            </a:stretch>
          </a:blipFill>
        </p:spPr>
      </p:sp>
      <p:sp>
        <p:nvSpPr>
          <p:cNvPr name="TextBox 9" id="9"/>
          <p:cNvSpPr txBox="true"/>
          <p:nvPr/>
        </p:nvSpPr>
        <p:spPr>
          <a:xfrm rot="0">
            <a:off x="3135358" y="1566862"/>
            <a:ext cx="11554117" cy="695325"/>
          </a:xfrm>
          <a:prstGeom prst="rect">
            <a:avLst/>
          </a:prstGeom>
        </p:spPr>
        <p:txBody>
          <a:bodyPr anchor="t" rtlCol="false" tIns="0" lIns="0" bIns="0" rIns="0">
            <a:spAutoFit/>
          </a:bodyPr>
          <a:lstStyle/>
          <a:p>
            <a:pPr algn="ctr" marL="0" indent="0" lvl="0">
              <a:lnSpc>
                <a:spcPts val="5486"/>
              </a:lnSpc>
              <a:spcBef>
                <a:spcPct val="0"/>
              </a:spcBef>
            </a:pPr>
            <a:r>
              <a:rPr lang="en-US" b="true" sz="4572" spc="137">
                <a:solidFill>
                  <a:srgbClr val="D9D9D9"/>
                </a:solidFill>
                <a:latin typeface="HK Modular"/>
                <a:ea typeface="HK Modular"/>
                <a:cs typeface="HK Modular"/>
                <a:sym typeface="HK Modular"/>
              </a:rPr>
              <a:t>PROJECT ARCHITECTURE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872589"/>
            <a:ext cx="7315200" cy="771421"/>
          </a:xfrm>
          <a:custGeom>
            <a:avLst/>
            <a:gdLst/>
            <a:ahLst/>
            <a:cxnLst/>
            <a:rect r="r" b="b" t="t" l="l"/>
            <a:pathLst>
              <a:path h="771421" w="7315200">
                <a:moveTo>
                  <a:pt x="0" y="0"/>
                </a:moveTo>
                <a:lnTo>
                  <a:pt x="7315200" y="0"/>
                </a:lnTo>
                <a:lnTo>
                  <a:pt x="7315200" y="771422"/>
                </a:lnTo>
                <a:lnTo>
                  <a:pt x="0" y="771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944100" y="642989"/>
            <a:ext cx="7315200" cy="771421"/>
          </a:xfrm>
          <a:custGeom>
            <a:avLst/>
            <a:gdLst/>
            <a:ahLst/>
            <a:cxnLst/>
            <a:rect r="r" b="b" t="t" l="l"/>
            <a:pathLst>
              <a:path h="771421" w="7315200">
                <a:moveTo>
                  <a:pt x="7315200" y="0"/>
                </a:moveTo>
                <a:lnTo>
                  <a:pt x="0" y="0"/>
                </a:lnTo>
                <a:lnTo>
                  <a:pt x="0" y="771422"/>
                </a:lnTo>
                <a:lnTo>
                  <a:pt x="7315200" y="771422"/>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01900" y="801052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028700" y="-1814512"/>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1623060" y="5406494"/>
            <a:ext cx="5303520" cy="771421"/>
          </a:xfrm>
          <a:custGeom>
            <a:avLst/>
            <a:gdLst/>
            <a:ahLst/>
            <a:cxnLst/>
            <a:rect r="r" b="b" t="t" l="l"/>
            <a:pathLst>
              <a:path h="771421" w="5303520">
                <a:moveTo>
                  <a:pt x="0" y="0"/>
                </a:moveTo>
                <a:lnTo>
                  <a:pt x="5303520" y="0"/>
                </a:lnTo>
                <a:lnTo>
                  <a:pt x="5303520" y="771421"/>
                </a:lnTo>
                <a:lnTo>
                  <a:pt x="0" y="771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5400000">
            <a:off x="14607540" y="4109085"/>
            <a:ext cx="5303520" cy="771421"/>
          </a:xfrm>
          <a:custGeom>
            <a:avLst/>
            <a:gdLst/>
            <a:ahLst/>
            <a:cxnLst/>
            <a:rect r="r" b="b" t="t" l="l"/>
            <a:pathLst>
              <a:path h="771421" w="5303520">
                <a:moveTo>
                  <a:pt x="0" y="771421"/>
                </a:moveTo>
                <a:lnTo>
                  <a:pt x="5303520" y="771421"/>
                </a:lnTo>
                <a:lnTo>
                  <a:pt x="5303520" y="0"/>
                </a:lnTo>
                <a:lnTo>
                  <a:pt x="0" y="0"/>
                </a:lnTo>
                <a:lnTo>
                  <a:pt x="0" y="77142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731999" y="2824513"/>
            <a:ext cx="15084440" cy="5186012"/>
          </a:xfrm>
          <a:custGeom>
            <a:avLst/>
            <a:gdLst/>
            <a:ahLst/>
            <a:cxnLst/>
            <a:rect r="r" b="b" t="t" l="l"/>
            <a:pathLst>
              <a:path h="5186012" w="15084440">
                <a:moveTo>
                  <a:pt x="0" y="0"/>
                </a:moveTo>
                <a:lnTo>
                  <a:pt x="15084440" y="0"/>
                </a:lnTo>
                <a:lnTo>
                  <a:pt x="15084440" y="5186012"/>
                </a:lnTo>
                <a:lnTo>
                  <a:pt x="0" y="5186012"/>
                </a:lnTo>
                <a:lnTo>
                  <a:pt x="0" y="0"/>
                </a:lnTo>
                <a:close/>
              </a:path>
            </a:pathLst>
          </a:custGeom>
          <a:blipFill>
            <a:blip r:embed="rId8"/>
            <a:stretch>
              <a:fillRect l="-2081" t="-38414" r="-2521" b="-32730"/>
            </a:stretch>
          </a:blipFill>
        </p:spPr>
      </p:sp>
      <p:sp>
        <p:nvSpPr>
          <p:cNvPr name="TextBox 9" id="9"/>
          <p:cNvSpPr txBox="true"/>
          <p:nvPr/>
        </p:nvSpPr>
        <p:spPr>
          <a:xfrm rot="0">
            <a:off x="3221083" y="1566862"/>
            <a:ext cx="11554117" cy="695325"/>
          </a:xfrm>
          <a:prstGeom prst="rect">
            <a:avLst/>
          </a:prstGeom>
        </p:spPr>
        <p:txBody>
          <a:bodyPr anchor="t" rtlCol="false" tIns="0" lIns="0" bIns="0" rIns="0">
            <a:spAutoFit/>
          </a:bodyPr>
          <a:lstStyle/>
          <a:p>
            <a:pPr algn="ctr" marL="0" indent="0" lvl="0">
              <a:lnSpc>
                <a:spcPts val="5486"/>
              </a:lnSpc>
              <a:spcBef>
                <a:spcPct val="0"/>
              </a:spcBef>
            </a:pPr>
            <a:r>
              <a:rPr lang="en-US" b="true" sz="4572" spc="137">
                <a:solidFill>
                  <a:srgbClr val="D9D9D9"/>
                </a:solidFill>
                <a:latin typeface="HK Modular"/>
                <a:ea typeface="HK Modular"/>
                <a:cs typeface="HK Modular"/>
                <a:sym typeface="HK Modular"/>
              </a:rPr>
              <a:t>PROJECT ARCHITECTURE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872589"/>
            <a:ext cx="7315200" cy="771421"/>
          </a:xfrm>
          <a:custGeom>
            <a:avLst/>
            <a:gdLst/>
            <a:ahLst/>
            <a:cxnLst/>
            <a:rect r="r" b="b" t="t" l="l"/>
            <a:pathLst>
              <a:path h="771421" w="7315200">
                <a:moveTo>
                  <a:pt x="0" y="0"/>
                </a:moveTo>
                <a:lnTo>
                  <a:pt x="7315200" y="0"/>
                </a:lnTo>
                <a:lnTo>
                  <a:pt x="7315200" y="771422"/>
                </a:lnTo>
                <a:lnTo>
                  <a:pt x="0" y="771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944100" y="642989"/>
            <a:ext cx="7315200" cy="771421"/>
          </a:xfrm>
          <a:custGeom>
            <a:avLst/>
            <a:gdLst/>
            <a:ahLst/>
            <a:cxnLst/>
            <a:rect r="r" b="b" t="t" l="l"/>
            <a:pathLst>
              <a:path h="771421" w="7315200">
                <a:moveTo>
                  <a:pt x="7315200" y="0"/>
                </a:moveTo>
                <a:lnTo>
                  <a:pt x="0" y="0"/>
                </a:lnTo>
                <a:lnTo>
                  <a:pt x="0" y="771422"/>
                </a:lnTo>
                <a:lnTo>
                  <a:pt x="7315200" y="771422"/>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01900" y="801052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028700" y="-1814512"/>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1623060" y="5406494"/>
            <a:ext cx="5303520" cy="771421"/>
          </a:xfrm>
          <a:custGeom>
            <a:avLst/>
            <a:gdLst/>
            <a:ahLst/>
            <a:cxnLst/>
            <a:rect r="r" b="b" t="t" l="l"/>
            <a:pathLst>
              <a:path h="771421" w="5303520">
                <a:moveTo>
                  <a:pt x="0" y="0"/>
                </a:moveTo>
                <a:lnTo>
                  <a:pt x="5303520" y="0"/>
                </a:lnTo>
                <a:lnTo>
                  <a:pt x="5303520" y="771421"/>
                </a:lnTo>
                <a:lnTo>
                  <a:pt x="0" y="771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5400000">
            <a:off x="14607540" y="4109085"/>
            <a:ext cx="5303520" cy="771421"/>
          </a:xfrm>
          <a:custGeom>
            <a:avLst/>
            <a:gdLst/>
            <a:ahLst/>
            <a:cxnLst/>
            <a:rect r="r" b="b" t="t" l="l"/>
            <a:pathLst>
              <a:path h="771421" w="5303520">
                <a:moveTo>
                  <a:pt x="0" y="771421"/>
                </a:moveTo>
                <a:lnTo>
                  <a:pt x="5303520" y="771421"/>
                </a:lnTo>
                <a:lnTo>
                  <a:pt x="5303520" y="0"/>
                </a:lnTo>
                <a:lnTo>
                  <a:pt x="0" y="0"/>
                </a:lnTo>
                <a:lnTo>
                  <a:pt x="0" y="77142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4037251" y="2076620"/>
            <a:ext cx="11999488" cy="6710245"/>
          </a:xfrm>
          <a:prstGeom prst="rect">
            <a:avLst/>
          </a:prstGeom>
        </p:spPr>
        <p:txBody>
          <a:bodyPr anchor="t" rtlCol="false" tIns="0" lIns="0" bIns="0" rIns="0">
            <a:spAutoFit/>
          </a:bodyPr>
          <a:lstStyle/>
          <a:p>
            <a:pPr algn="l" marL="0" indent="0" lvl="0">
              <a:lnSpc>
                <a:spcPts val="3357"/>
              </a:lnSpc>
              <a:spcBef>
                <a:spcPct val="0"/>
              </a:spcBef>
            </a:pPr>
            <a:r>
              <a:rPr lang="en-US" sz="2238" spc="67" strike="noStrike" u="none">
                <a:solidFill>
                  <a:srgbClr val="D9D9D9"/>
                </a:solidFill>
                <a:latin typeface="Sansation"/>
                <a:ea typeface="Sansation"/>
                <a:cs typeface="Sansation"/>
                <a:sym typeface="Sansation"/>
              </a:rPr>
              <a:t>R</a:t>
            </a:r>
            <a:r>
              <a:rPr lang="en-US" b="true" sz="2238" spc="67" strike="noStrike" u="none">
                <a:solidFill>
                  <a:srgbClr val="D9D9D9"/>
                </a:solidFill>
                <a:latin typeface="Sansation Bold"/>
                <a:ea typeface="Sansation Bold"/>
                <a:cs typeface="Sansation Bold"/>
                <a:sym typeface="Sansation Bold"/>
              </a:rPr>
              <a:t>etrieval-Augmented-Generation-RAG-for-Educational-Systems-Group99</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 app.py                      # Main Streamlit application</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 vector_db.py                # Creates and manages the FAISS vector database</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 chatbot.py                  # Handles chatbot logic and RAG pipeline</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 requirements.txt            # Python dependencies</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 README.md                   # Project documentation</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 .gitignore                  # Files ignored by Git</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 data/                       # Study material (PDFs, notes, etc.)</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   ├── pdfs/</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   └── processed_data/</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 assets/                     # Images, logos, icons</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 utils/                      # Helper functions</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   ├── text_processing.py</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   ├── embeddings.py</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   └── helpers.py</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 pages/                      # Additional Streamlit pages (if used)</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 .streamlit/</a:t>
            </a:r>
          </a:p>
          <a:p>
            <a:pPr algn="just" marL="0" indent="0" lvl="0">
              <a:lnSpc>
                <a:spcPts val="2277"/>
              </a:lnSpc>
              <a:spcBef>
                <a:spcPct val="0"/>
              </a:spcBef>
            </a:pPr>
            <a:r>
              <a:rPr lang="en-US" sz="1518" spc="45" strike="noStrike" u="none">
                <a:solidFill>
                  <a:srgbClr val="D9D9D9"/>
                </a:solidFill>
                <a:latin typeface="Sansation"/>
                <a:ea typeface="Sansation"/>
                <a:cs typeface="Sansation"/>
                <a:sym typeface="Sansation"/>
              </a:rPr>
              <a:t>    └── config.toml             # Streamlit configuration</a:t>
            </a:r>
          </a:p>
        </p:txBody>
      </p:sp>
      <p:sp>
        <p:nvSpPr>
          <p:cNvPr name="TextBox 9" id="9"/>
          <p:cNvSpPr txBox="true"/>
          <p:nvPr/>
        </p:nvSpPr>
        <p:spPr>
          <a:xfrm rot="0">
            <a:off x="3019425" y="1302015"/>
            <a:ext cx="12759534" cy="685495"/>
          </a:xfrm>
          <a:prstGeom prst="rect">
            <a:avLst/>
          </a:prstGeom>
        </p:spPr>
        <p:txBody>
          <a:bodyPr anchor="t" rtlCol="false" tIns="0" lIns="0" bIns="0" rIns="0">
            <a:spAutoFit/>
          </a:bodyPr>
          <a:lstStyle/>
          <a:p>
            <a:pPr algn="ctr" marL="0" indent="0" lvl="0">
              <a:lnSpc>
                <a:spcPts val="5636"/>
              </a:lnSpc>
              <a:spcBef>
                <a:spcPct val="0"/>
              </a:spcBef>
            </a:pPr>
            <a:r>
              <a:rPr lang="en-US" sz="3757" spc="112">
                <a:solidFill>
                  <a:srgbClr val="D9D9D9"/>
                </a:solidFill>
                <a:latin typeface="HK Modular"/>
                <a:ea typeface="HK Modular"/>
                <a:cs typeface="HK Modular"/>
                <a:sym typeface="HK Modular"/>
              </a:rPr>
              <a:t>Github directory structure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872589"/>
            <a:ext cx="7315200" cy="771421"/>
          </a:xfrm>
          <a:custGeom>
            <a:avLst/>
            <a:gdLst/>
            <a:ahLst/>
            <a:cxnLst/>
            <a:rect r="r" b="b" t="t" l="l"/>
            <a:pathLst>
              <a:path h="771421" w="7315200">
                <a:moveTo>
                  <a:pt x="0" y="0"/>
                </a:moveTo>
                <a:lnTo>
                  <a:pt x="7315200" y="0"/>
                </a:lnTo>
                <a:lnTo>
                  <a:pt x="7315200" y="771422"/>
                </a:lnTo>
                <a:lnTo>
                  <a:pt x="0" y="771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944100" y="642989"/>
            <a:ext cx="7315200" cy="771421"/>
          </a:xfrm>
          <a:custGeom>
            <a:avLst/>
            <a:gdLst/>
            <a:ahLst/>
            <a:cxnLst/>
            <a:rect r="r" b="b" t="t" l="l"/>
            <a:pathLst>
              <a:path h="771421" w="7315200">
                <a:moveTo>
                  <a:pt x="7315200" y="0"/>
                </a:moveTo>
                <a:lnTo>
                  <a:pt x="0" y="0"/>
                </a:lnTo>
                <a:lnTo>
                  <a:pt x="0" y="771422"/>
                </a:lnTo>
                <a:lnTo>
                  <a:pt x="7315200" y="771422"/>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01900" y="801052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028700" y="-1814512"/>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1623060" y="5406494"/>
            <a:ext cx="5303520" cy="771421"/>
          </a:xfrm>
          <a:custGeom>
            <a:avLst/>
            <a:gdLst/>
            <a:ahLst/>
            <a:cxnLst/>
            <a:rect r="r" b="b" t="t" l="l"/>
            <a:pathLst>
              <a:path h="771421" w="5303520">
                <a:moveTo>
                  <a:pt x="0" y="0"/>
                </a:moveTo>
                <a:lnTo>
                  <a:pt x="5303520" y="0"/>
                </a:lnTo>
                <a:lnTo>
                  <a:pt x="5303520" y="771421"/>
                </a:lnTo>
                <a:lnTo>
                  <a:pt x="0" y="771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5400000">
            <a:off x="14607540" y="4109085"/>
            <a:ext cx="5303520" cy="771421"/>
          </a:xfrm>
          <a:custGeom>
            <a:avLst/>
            <a:gdLst/>
            <a:ahLst/>
            <a:cxnLst/>
            <a:rect r="r" b="b" t="t" l="l"/>
            <a:pathLst>
              <a:path h="771421" w="5303520">
                <a:moveTo>
                  <a:pt x="0" y="771421"/>
                </a:moveTo>
                <a:lnTo>
                  <a:pt x="5303520" y="771421"/>
                </a:lnTo>
                <a:lnTo>
                  <a:pt x="5303520" y="0"/>
                </a:lnTo>
                <a:lnTo>
                  <a:pt x="0" y="0"/>
                </a:lnTo>
                <a:lnTo>
                  <a:pt x="0" y="77142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729394" y="2718527"/>
            <a:ext cx="14829211" cy="4840422"/>
          </a:xfrm>
          <a:prstGeom prst="rect">
            <a:avLst/>
          </a:prstGeom>
        </p:spPr>
        <p:txBody>
          <a:bodyPr anchor="t" rtlCol="false" tIns="0" lIns="0" bIns="0" rIns="0">
            <a:spAutoFit/>
          </a:bodyPr>
          <a:lstStyle/>
          <a:p>
            <a:pPr algn="ctr" marL="0" indent="0" lvl="0">
              <a:lnSpc>
                <a:spcPts val="19019"/>
              </a:lnSpc>
              <a:spcBef>
                <a:spcPct val="0"/>
              </a:spcBef>
            </a:pPr>
            <a:r>
              <a:rPr lang="en-US" sz="15849" spc="475">
                <a:solidFill>
                  <a:srgbClr val="D9D9D9"/>
                </a:solidFill>
                <a:latin typeface="HK Modular"/>
                <a:ea typeface="HK Modular"/>
                <a:cs typeface="HK Modular"/>
                <a:sym typeface="HK Modular"/>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DAHO0Alc8Is</dc:identifier>
  <dcterms:modified xsi:type="dcterms:W3CDTF">2011-08-01T06:04:30Z</dcterms:modified>
  <cp:revision>1</cp:revision>
  <dc:title>Copy of Exam Prep Chatbot Presentation</dc:title>
</cp:coreProperties>
</file>